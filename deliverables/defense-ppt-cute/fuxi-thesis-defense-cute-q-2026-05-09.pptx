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开场说明：这是一套 Rust 本地优先多 Agent 编排平台。
Q萌风格服务表达，技术内容仍按论文严肃口径讲。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本页立题：不是聊天能力，而是通讯底座。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讲规模和目标。数字口径来自论文摘要与总结。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A2A 和 EventBus 的边界。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主目录页。后面展开重点机制与实验。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回答为什么不用现成 a2a-rs：差异点在和本地编排层、事件总线、人工介入语义深度集成。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解释双路径：广播用于实时，WAL 用于历史与审计。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把玄女—门客讲成工程分层，不讲成设定。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并发文件操作不互相踩，是这页重点。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主动承认边界，不夸大成完整大规模分布式系统。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用这页防御为什么实验是 10ms sleep。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这些数字是剥离推理后的系统层上限。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重点是观测端能无轮询近实时。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64x100k/s 是边界，主结论是实际负载远低于 sustainable 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局限页要坦诚。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结束：感谢老师，欢迎批评指正。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pic>
        <p:nvPicPr>
          <p:cNvPr id="16" name="Image 0" descr="/Users/e0_7/fuxi/deliverables/defense-ppt-cute/assets/fuxi-cut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7160"/>
            <a:ext cx="7178040" cy="404164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02920" y="384048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B38A"/>
            </a:solidFill>
            <a:prstDash val="solid"/>
          </a:ln>
        </p:spPr>
      </p:sp>
      <p:pic>
        <p:nvPicPr>
          <p:cNvPr id="18" name="Image 1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02920"/>
            <a:ext cx="676656" cy="6766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27632" y="530352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毕业论文答辩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58368" y="1408176"/>
            <a:ext cx="47548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AI Agent 的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高性能分布式通讯系统</a:t>
            </a:r>
            <a:endParaRPr lang="en-US" sz="3100" dirty="0"/>
          </a:p>
        </p:txBody>
      </p:sp>
      <p:sp>
        <p:nvSpPr>
          <p:cNvPr id="21" name="Shape 17"/>
          <p:cNvSpPr/>
          <p:nvPr/>
        </p:nvSpPr>
        <p:spPr>
          <a:xfrm>
            <a:off x="713232" y="2852928"/>
            <a:ext cx="4297680" cy="841248"/>
          </a:xfrm>
          <a:prstGeom prst="roundRect">
            <a:avLst>
              <a:gd name="adj" fmla="val 9783"/>
            </a:avLst>
          </a:prstGeom>
          <a:solidFill>
            <a:srgbClr val="FFF3C4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77824" y="3008376"/>
            <a:ext cx="54864" cy="530352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42416" y="2962656"/>
            <a:ext cx="38221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把多 Agent 系统从“演示脚本”推到“可观测、可回放、可审计的日用平台”。</a:t>
            </a:r>
            <a:endParaRPr lang="en-US" sz="1260" dirty="0"/>
          </a:p>
        </p:txBody>
      </p:sp>
      <p:sp>
        <p:nvSpPr>
          <p:cNvPr id="24" name="Text 20"/>
          <p:cNvSpPr/>
          <p:nvPr/>
        </p:nvSpPr>
        <p:spPr>
          <a:xfrm>
            <a:off x="749808" y="5376672"/>
            <a:ext cx="274320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答辩人：张以琳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日期：2026 年 5 月 9 日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3749040" y="5212080"/>
            <a:ext cx="1463040" cy="786384"/>
          </a:xfrm>
          <a:prstGeom prst="roundRect">
            <a:avLst>
              <a:gd name="adj" fmla="val 10465"/>
            </a:avLst>
          </a:prstGeom>
          <a:solidFill>
            <a:srgbClr val="FFB38A">
              <a:alpha val="42000"/>
            </a:srgbClr>
          </a:solidFill>
          <a:ln w="14605">
            <a:solidFill>
              <a:srgbClr val="FFB38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840480" y="5340096"/>
            <a:ext cx="530352" cy="530352"/>
          </a:xfrm>
          <a:prstGeom prst="ellipse">
            <a:avLst/>
          </a:prstGeom>
          <a:solidFill>
            <a:srgbClr val="FFB38A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977640" y="552297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69664" y="552297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41648" y="562356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54406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5321808" y="5431536"/>
            <a:ext cx="292608" cy="292608"/>
          </a:xfrm>
          <a:prstGeom prst="chevron">
            <a:avLst/>
          </a:prstGeom>
          <a:solidFill>
            <a:srgbClr val="FFB38A"/>
          </a:solidFill>
          <a:ln w="12700">
            <a:solidFill>
              <a:srgbClr val="FFB38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806440" y="5212080"/>
            <a:ext cx="1463040" cy="786384"/>
          </a:xfrm>
          <a:prstGeom prst="roundRect">
            <a:avLst>
              <a:gd name="adj" fmla="val 10465"/>
            </a:avLst>
          </a:prstGeom>
          <a:solidFill>
            <a:srgbClr val="A8D8FF">
              <a:alpha val="42000"/>
            </a:srgbClr>
          </a:solidFill>
          <a:ln w="14605">
            <a:solidFill>
              <a:srgbClr val="A8D8FF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897880" y="5340096"/>
            <a:ext cx="530352" cy="530352"/>
          </a:xfrm>
          <a:prstGeom prst="ellipse">
            <a:avLst/>
          </a:prstGeom>
          <a:solidFill>
            <a:srgbClr val="A8D8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035040" y="552297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27064" y="552297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099048" y="562356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492240" y="54406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事件总线</a:t>
            </a:r>
            <a:endParaRPr lang="en-US" sz="880" dirty="0"/>
          </a:p>
        </p:txBody>
      </p:sp>
      <p:sp>
        <p:nvSpPr>
          <p:cNvPr id="38" name="Shape 34"/>
          <p:cNvSpPr/>
          <p:nvPr/>
        </p:nvSpPr>
        <p:spPr>
          <a:xfrm>
            <a:off x="7379208" y="5431536"/>
            <a:ext cx="292608" cy="292608"/>
          </a:xfrm>
          <a:prstGeom prst="chevron">
            <a:avLst/>
          </a:prstGeom>
          <a:solidFill>
            <a:srgbClr val="FFB38A"/>
          </a:solidFill>
          <a:ln w="12700">
            <a:solidFill>
              <a:srgbClr val="FFB38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863840" y="5212080"/>
            <a:ext cx="1463040" cy="786384"/>
          </a:xfrm>
          <a:prstGeom prst="roundRect">
            <a:avLst>
              <a:gd name="adj" fmla="val 10465"/>
            </a:avLst>
          </a:prstGeom>
          <a:solidFill>
            <a:srgbClr val="A8E6CF">
              <a:alpha val="42000"/>
            </a:srgbClr>
          </a:solidFill>
          <a:ln w="14605">
            <a:solidFill>
              <a:srgbClr val="A8E6CF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7955280" y="5340096"/>
            <a:ext cx="530352" cy="530352"/>
          </a:xfrm>
          <a:prstGeom prst="ellipse">
            <a:avLst/>
          </a:prstGeom>
          <a:solidFill>
            <a:srgbClr val="A8E6C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092440" y="552297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284464" y="552297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156448" y="562356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8549640" y="54406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门客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问题：多 Agent 真正难在通讯底座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角色协作有效，但工程化短板集中在状态、通讯和可观测性。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31520" y="1828800"/>
            <a:ext cx="3154680" cy="1426464"/>
          </a:xfrm>
          <a:prstGeom prst="roundRect">
            <a:avLst>
              <a:gd name="adj" fmla="val 5769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86968" y="2011680"/>
            <a:ext cx="530352" cy="530352"/>
          </a:xfrm>
          <a:prstGeom prst="ellipse">
            <a:avLst/>
          </a:prstGeom>
          <a:solidFill>
            <a:srgbClr val="A8D8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4128" y="219456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16152" y="219456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88136" y="229514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55448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通讯协议不统一</a:t>
            </a:r>
            <a:endParaRPr lang="en-US" sz="1320" dirty="0"/>
          </a:p>
        </p:txBody>
      </p:sp>
      <p:sp>
        <p:nvSpPr>
          <p:cNvPr id="31" name="Text 28"/>
          <p:cNvSpPr/>
          <p:nvPr/>
        </p:nvSpPr>
        <p:spPr>
          <a:xfrm>
            <a:off x="1554480" y="2395728"/>
            <a:ext cx="214884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跨进程、跨节点以后，Python 对象互调不再够用。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526280" y="1828800"/>
            <a:ext cx="3154680" cy="1426464"/>
          </a:xfrm>
          <a:prstGeom prst="roundRect">
            <a:avLst>
              <a:gd name="adj" fmla="val 5769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81728" y="2011680"/>
            <a:ext cx="530352" cy="530352"/>
          </a:xfrm>
          <a:prstGeom prst="ellipse">
            <a:avLst/>
          </a:prstGeom>
          <a:solidFill>
            <a:srgbClr val="FFB38A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18888" y="219456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10912" y="219456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82896" y="229514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492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任务生命周期缺位</a:t>
            </a:r>
            <a:endParaRPr lang="en-US" sz="1320" dirty="0"/>
          </a:p>
        </p:txBody>
      </p:sp>
      <p:sp>
        <p:nvSpPr>
          <p:cNvPr id="38" name="Text 35"/>
          <p:cNvSpPr/>
          <p:nvPr/>
        </p:nvSpPr>
        <p:spPr>
          <a:xfrm>
            <a:off x="5349240" y="2395728"/>
            <a:ext cx="214884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会执行很久、会中断、会等待用户输入。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321040" y="1828800"/>
            <a:ext cx="3154680" cy="1426464"/>
          </a:xfrm>
          <a:prstGeom prst="roundRect">
            <a:avLst>
              <a:gd name="adj" fmla="val 5769"/>
            </a:avLst>
          </a:prstGeom>
          <a:solidFill>
            <a:srgbClr val="EFE7FF"/>
          </a:solidFill>
          <a:ln w="14605">
            <a:solidFill>
              <a:srgbClr val="CDB4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476488" y="2011680"/>
            <a:ext cx="530352" cy="530352"/>
          </a:xfrm>
          <a:prstGeom prst="ellipse">
            <a:avLst/>
          </a:prstGeom>
          <a:solidFill>
            <a:srgbClr val="CDB4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613648" y="219456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05672" y="219456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677656" y="229514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14400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运行时状态难追踪</a:t>
            </a:r>
            <a:endParaRPr lang="en-US" sz="1320" dirty="0"/>
          </a:p>
        </p:txBody>
      </p:sp>
      <p:sp>
        <p:nvSpPr>
          <p:cNvPr id="45" name="Text 42"/>
          <p:cNvSpPr/>
          <p:nvPr/>
        </p:nvSpPr>
        <p:spPr>
          <a:xfrm>
            <a:off x="9144000" y="2395728"/>
            <a:ext cx="214884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工具调用、子任务和异常都必须可回放。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1170432" y="5010912"/>
            <a:ext cx="9875520" cy="603504"/>
          </a:xfrm>
          <a:prstGeom prst="roundRect">
            <a:avLst>
              <a:gd name="adj" fmla="val 13636"/>
            </a:avLst>
          </a:prstGeom>
          <a:solidFill>
            <a:srgbClr val="FFF3C4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335024" y="5166360"/>
            <a:ext cx="54864" cy="292608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499616" y="5120640"/>
            <a:ext cx="94000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本文的问题不是“让 Agent 会聊天”，而是让多个 Agent 在本机与跨节点环境中可靠协作。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研究目标与设计假设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Rust、本地优先、事件驱动、可观测、可跨节点扩展。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22960" y="1481328"/>
            <a:ext cx="10515600" cy="566928"/>
          </a:xfrm>
          <a:prstGeom prst="roundRect">
            <a:avLst>
              <a:gd name="adj" fmla="val 14516"/>
            </a:avLst>
          </a:prstGeom>
          <a:solidFill>
            <a:srgbClr val="E5F4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87552" y="1636776"/>
            <a:ext cx="54864" cy="256032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52144" y="1591056"/>
            <a:ext cx="1004011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实现一个本地优先、事件驱动、可观测、可跨节点扩展的多 AI Agent 协作平台。</a:t>
            </a:r>
            <a:endParaRPr lang="en-US" sz="1260" dirty="0"/>
          </a:p>
        </p:txBody>
      </p:sp>
      <p:sp>
        <p:nvSpPr>
          <p:cNvPr id="28" name="Shape 25"/>
          <p:cNvSpPr/>
          <p:nvPr/>
        </p:nvSpPr>
        <p:spPr>
          <a:xfrm>
            <a:off x="786384" y="2761488"/>
            <a:ext cx="1847088" cy="987552"/>
          </a:xfrm>
          <a:prstGeom prst="roundRect">
            <a:avLst>
              <a:gd name="adj" fmla="val 8333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32688" y="2880360"/>
            <a:ext cx="155448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D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932688" y="329184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crate 模块边界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2907792" y="2761488"/>
            <a:ext cx="1874520" cy="987552"/>
          </a:xfrm>
          <a:prstGeom prst="roundRect">
            <a:avLst>
              <a:gd name="adj" fmla="val 8333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054096" y="2880360"/>
            <a:ext cx="158191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8.25 万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3054096" y="3291840"/>
            <a:ext cx="15819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Rust 代码行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5047488" y="2761488"/>
            <a:ext cx="2084832" cy="987552"/>
          </a:xfrm>
          <a:prstGeom prst="roundRect">
            <a:avLst>
              <a:gd name="adj" fmla="val 8333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193792" y="2880360"/>
            <a:ext cx="17922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7C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1363 + 27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5193792" y="3291840"/>
            <a:ext cx="17922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单元测试 + 集成测试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7388352" y="2761488"/>
            <a:ext cx="1828800" cy="987552"/>
          </a:xfrm>
          <a:prstGeom prst="roundRect">
            <a:avLst>
              <a:gd name="adj" fmla="val 8333"/>
            </a:avLst>
          </a:prstGeom>
          <a:solidFill>
            <a:srgbClr val="EFE7FF"/>
          </a:solidFill>
          <a:ln w="14605">
            <a:solidFill>
              <a:srgbClr val="CDB4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534656" y="2880360"/>
            <a:ext cx="153619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DB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ERP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7534656" y="3291840"/>
            <a:ext cx="1536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真实项目日常验证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9491472" y="2761488"/>
            <a:ext cx="1828800" cy="987552"/>
          </a:xfrm>
          <a:prstGeom prst="roundRect">
            <a:avLst>
              <a:gd name="adj" fmla="val 8333"/>
            </a:avLst>
          </a:prstGeom>
          <a:solidFill>
            <a:srgbClr val="FFF3C4"/>
          </a:solidFill>
          <a:ln w="14605">
            <a:solidFill>
              <a:srgbClr val="E8342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9637776" y="2880360"/>
            <a:ext cx="153619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9637776" y="3291840"/>
            <a:ext cx="1536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可独立审视的贡献</a:t>
            </a:r>
            <a:endParaRPr lang="en-US" sz="880" dirty="0"/>
          </a:p>
        </p:txBody>
      </p:sp>
      <p:sp>
        <p:nvSpPr>
          <p:cNvPr id="43" name="Text 40"/>
          <p:cNvSpPr/>
          <p:nvPr/>
        </p:nvSpPr>
        <p:spPr>
          <a:xfrm>
            <a:off x="914400" y="4800600"/>
            <a:ext cx="99669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事件驱动 + 追加式日志，同时兼顾吞吐、实时性与可追溯性。</a:t>
            </a:r>
            <a:endParaRPr lang="en-US" sz="1220" dirty="0"/>
          </a:p>
          <a:p>
            <a:r>
              <a:rPr lang="en-US" sz="122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协议语义、事实流、调度边界、执行隔离必须同时成立。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总体架构：核心—通讯—编排—执行—观测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是契约语义，EventBus 是事实流；两者正交。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58368" y="1453896"/>
            <a:ext cx="6839712" cy="4489704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figures/drawio/fig-2-1-overall-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1481328"/>
            <a:ext cx="6784848" cy="443484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790688" y="1554480"/>
            <a:ext cx="3547872" cy="4041648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8065008" y="1810512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讲图顺序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065008" y="2212848"/>
            <a:ext cx="28803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9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fuxi-core 定义 Agent / Task / Workspace / Event。</a:t>
            </a:r>
            <a:endParaRPr lang="en-US" sz="980" dirty="0"/>
          </a:p>
          <a:p>
            <a:r>
              <a:rPr lang="en-US" sz="9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fuxi-events 记录事实，fuxi-a2a 承担契约。</a:t>
            </a:r>
            <a:endParaRPr lang="en-US" sz="980" dirty="0"/>
          </a:p>
          <a:p>
            <a:r>
              <a:rPr lang="en-US" sz="9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玄女维护门客注册表，所有协作经编排层记录。</a:t>
            </a:r>
            <a:endParaRPr lang="en-US" sz="980" dirty="0"/>
          </a:p>
          <a:p>
            <a:r>
              <a:rPr lang="en-US" sz="9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执行层接 Claude Code / Codex，并通过 worktree 隔离。</a:t>
            </a:r>
            <a:endParaRPr lang="en-US" sz="980" dirty="0"/>
          </a:p>
          <a:p>
            <a:r>
              <a:rPr lang="en-US" sz="9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观测层用 Firehose、WS、SSE、IM 读同一事件流。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8046720" y="5084064"/>
            <a:ext cx="2926080" cy="301752"/>
          </a:xfrm>
          <a:prstGeom prst="roundRect">
            <a:avLst>
              <a:gd name="adj" fmla="val 27273"/>
            </a:avLst>
          </a:prstGeom>
          <a:solidFill>
            <a:srgbClr val="FFF3C4"/>
          </a:solidFill>
          <a:ln w="10160">
            <a:solidFill>
              <a:srgbClr val="E8342F">
                <a:alpha val="5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156448" y="5152644"/>
            <a:ext cx="270662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协议不保存事实，事件流不替代协议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CONTRIBUTIONS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五项贡献：围绕一个命题展开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Agent 间通讯的契约、事实流、调度边界与执行隔离同时做对。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22960" y="150876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8408" y="1691640"/>
            <a:ext cx="530352" cy="530352"/>
          </a:xfrm>
          <a:prstGeom prst="ellipse">
            <a:avLst/>
          </a:prstGeom>
          <a:solidFill>
            <a:srgbClr val="A8D8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15568" y="187452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307592" y="187452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79576" y="197510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645920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风格协议适配层</a:t>
            </a:r>
            <a:endParaRPr lang="en-US" sz="1320" dirty="0"/>
          </a:p>
        </p:txBody>
      </p:sp>
      <p:sp>
        <p:nvSpPr>
          <p:cNvPr id="31" name="Text 28"/>
          <p:cNvSpPr/>
          <p:nvPr/>
        </p:nvSpPr>
        <p:spPr>
          <a:xfrm>
            <a:off x="1645920" y="2075688"/>
            <a:ext cx="370332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五条核心路径；input-required 提升为平台级人工介入。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989320" y="150876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144768" y="1691640"/>
            <a:ext cx="530352" cy="530352"/>
          </a:xfrm>
          <a:prstGeom prst="ellipse">
            <a:avLst/>
          </a:prstGeom>
          <a:solidFill>
            <a:srgbClr val="FFB38A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81928" y="187452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73952" y="187452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45936" y="197510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12280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非阻塞事件总线</a:t>
            </a:r>
            <a:endParaRPr lang="en-US" sz="1320" dirty="0"/>
          </a:p>
        </p:txBody>
      </p:sp>
      <p:sp>
        <p:nvSpPr>
          <p:cNvPr id="38" name="Text 35"/>
          <p:cNvSpPr/>
          <p:nvPr/>
        </p:nvSpPr>
        <p:spPr>
          <a:xfrm>
            <a:off x="6812280" y="2075688"/>
            <a:ext cx="370332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Tokio broadcast + SQLite WAL；try_send + 后台转交 + lag 哨兵。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22960" y="301752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78408" y="3200400"/>
            <a:ext cx="530352" cy="530352"/>
          </a:xfrm>
          <a:prstGeom prst="ellipse">
            <a:avLst/>
          </a:prstGeom>
          <a:solidFill>
            <a:srgbClr val="57CC99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15568" y="338328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307592" y="338328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79576" y="348386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645920" y="3246120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玄女—门客分层</a:t>
            </a:r>
            <a:endParaRPr lang="en-US" sz="1320" dirty="0"/>
          </a:p>
        </p:txBody>
      </p:sp>
      <p:sp>
        <p:nvSpPr>
          <p:cNvPr id="45" name="Text 42"/>
          <p:cNvSpPr/>
          <p:nvPr/>
        </p:nvSpPr>
        <p:spPr>
          <a:xfrm>
            <a:off x="1645920" y="3584448"/>
            <a:ext cx="370332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用户入口与执行 Agent 解耦；编排层不可绕过。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989320" y="301752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EFE7FF"/>
          </a:solidFill>
          <a:ln w="14605">
            <a:solidFill>
              <a:srgbClr val="CDB4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144768" y="3200400"/>
            <a:ext cx="530352" cy="530352"/>
          </a:xfrm>
          <a:prstGeom prst="ellipse">
            <a:avLst/>
          </a:prstGeom>
          <a:solidFill>
            <a:srgbClr val="CDB4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81928" y="338328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73952" y="338328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45936" y="348386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812280" y="3246120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三层沙箱 × WS 反连</a:t>
            </a:r>
            <a:endParaRPr lang="en-US" sz="1320" dirty="0"/>
          </a:p>
        </p:txBody>
      </p:sp>
      <p:sp>
        <p:nvSpPr>
          <p:cNvPr id="52" name="Text 49"/>
          <p:cNvSpPr/>
          <p:nvPr/>
        </p:nvSpPr>
        <p:spPr>
          <a:xfrm>
            <a:off x="6812280" y="3584448"/>
            <a:ext cx="370332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L1/L2/L3 worktree 隔离；编排层主动控制门客。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822960" y="4526280"/>
            <a:ext cx="10149840" cy="1143000"/>
          </a:xfrm>
          <a:prstGeom prst="roundRect">
            <a:avLst>
              <a:gd name="adj" fmla="val 7200"/>
            </a:avLst>
          </a:prstGeom>
          <a:solidFill>
            <a:srgbClr val="FFF3C4"/>
          </a:solidFill>
          <a:ln w="14605">
            <a:solidFill>
              <a:srgbClr val="E8342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978408" y="4709160"/>
            <a:ext cx="530352" cy="530352"/>
          </a:xfrm>
          <a:prstGeom prst="ellipse">
            <a:avLst/>
          </a:prstGeom>
          <a:solidFill>
            <a:srgbClr val="E8342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15568" y="489204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307592" y="4892040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79576" y="4992624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1645920" y="4754880"/>
            <a:ext cx="9189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跨节点扩展钩子</a:t>
            </a:r>
            <a:endParaRPr lang="en-US" sz="1320" dirty="0"/>
          </a:p>
        </p:txBody>
      </p:sp>
      <p:sp>
        <p:nvSpPr>
          <p:cNvPr id="59" name="Text 56"/>
          <p:cNvSpPr/>
          <p:nvPr/>
        </p:nvSpPr>
        <p:spPr>
          <a:xfrm>
            <a:off x="1645920" y="5093208"/>
            <a:ext cx="914400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DistEnqueuer / NodeLoadProvider 等 trait 注入；HMAC 验签。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适配：协议语义进入平台状态机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`input-required` 不只是 wire 字段，而是可观测、可调度的人工介入状态。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4088" y="1472184"/>
            <a:ext cx="508406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images/代码3-3-TaskState枚举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1499616"/>
            <a:ext cx="5029200" cy="15544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04088" y="3429000"/>
            <a:ext cx="5084064" cy="1929384"/>
          </a:xfrm>
          <a:prstGeom prst="roundRect">
            <a:avLst>
              <a:gd name="adj" fmla="val 4265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8" name="Image 2" descr="/Users/e0_7/fuxi/deliverables/thesis-v3/images/算法3-1-SSE帧解析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456432"/>
            <a:ext cx="5029200" cy="18745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217920" y="1508760"/>
            <a:ext cx="51023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473952" y="1810512"/>
            <a:ext cx="4526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 discovery、send、stream、query、cancel 五条主路径。</a:t>
            </a:r>
            <a:endParaRPr lang="en-US" sz="1050" dirty="0"/>
          </a:p>
          <a:p>
            <a:r>
              <a:rPr lang="en-US" sz="105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沿用早期 A2A JSON-RPC binding，论文中明确不主张完整 v1.0 兼容。</a:t>
            </a:r>
            <a:endParaRPr lang="en-US" sz="1050" dirty="0"/>
          </a:p>
          <a:p>
            <a:r>
              <a:rPr lang="en-US" sz="105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TASK_STATE_INPUT_REQUIRED 映射到 PendingApproval / AwaitingInput。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446520" y="4133088"/>
            <a:ext cx="2057400" cy="987552"/>
          </a:xfrm>
          <a:prstGeom prst="roundRect">
            <a:avLst>
              <a:gd name="adj" fmla="val 8333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592824" y="4251960"/>
            <a:ext cx="176479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1321 行</a:t>
            </a:r>
            <a:endParaRPr lang="en-US" sz="2100" dirty="0"/>
          </a:p>
        </p:txBody>
      </p:sp>
      <p:sp>
        <p:nvSpPr>
          <p:cNvPr id="33" name="Text 28"/>
          <p:cNvSpPr/>
          <p:nvPr/>
        </p:nvSpPr>
        <p:spPr>
          <a:xfrm>
            <a:off x="6592824" y="4663440"/>
            <a:ext cx="17647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fuxi-a2a crate</a:t>
            </a:r>
            <a:endParaRPr lang="en-US" sz="880" dirty="0"/>
          </a:p>
        </p:txBody>
      </p:sp>
      <p:sp>
        <p:nvSpPr>
          <p:cNvPr id="34" name="Shape 29"/>
          <p:cNvSpPr/>
          <p:nvPr/>
        </p:nvSpPr>
        <p:spPr>
          <a:xfrm>
            <a:off x="8942832" y="4133088"/>
            <a:ext cx="2057400" cy="987552"/>
          </a:xfrm>
          <a:prstGeom prst="roundRect">
            <a:avLst>
              <a:gd name="adj" fmla="val 8333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089136" y="4251960"/>
            <a:ext cx="176479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D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路径</a:t>
            </a:r>
            <a:endParaRPr lang="en-US" sz="2100" dirty="0"/>
          </a:p>
        </p:txBody>
      </p:sp>
      <p:sp>
        <p:nvSpPr>
          <p:cNvPr id="36" name="Text 31"/>
          <p:cNvSpPr/>
          <p:nvPr/>
        </p:nvSpPr>
        <p:spPr>
          <a:xfrm>
            <a:off x="9089136" y="4663440"/>
            <a:ext cx="17647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 / 发送 / 流式 / 查询 / 取消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EVENT BUS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事件总线：实时推送与历史回放共用一套抽象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publish 路径不阻塞调用方，同时让背压变成可见告警。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58368" y="1417320"/>
            <a:ext cx="5861304" cy="4334256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images/代码3-1-EventBus非阻塞publis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1444752"/>
            <a:ext cx="5806440" cy="427939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931152" y="1664208"/>
            <a:ext cx="4041648" cy="804672"/>
          </a:xfrm>
          <a:prstGeom prst="roundRect">
            <a:avLst>
              <a:gd name="adj" fmla="val 10227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086600" y="1847088"/>
            <a:ext cx="530352" cy="530352"/>
          </a:xfrm>
          <a:prstGeom prst="ellipse">
            <a:avLst/>
          </a:prstGeom>
          <a:solidFill>
            <a:srgbClr val="A8D8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223760" y="2029968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415784" y="2029968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287768" y="2130552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754112" y="1892808"/>
            <a:ext cx="30815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320" dirty="0"/>
          </a:p>
        </p:txBody>
      </p:sp>
      <p:sp>
        <p:nvSpPr>
          <p:cNvPr id="33" name="Text 29"/>
          <p:cNvSpPr/>
          <p:nvPr/>
        </p:nvSpPr>
        <p:spPr>
          <a:xfrm>
            <a:off x="7754112" y="2231136"/>
            <a:ext cx="30358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broadcast：零拷贝扇出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931152" y="2734056"/>
            <a:ext cx="4041648" cy="804672"/>
          </a:xfrm>
          <a:prstGeom prst="roundRect">
            <a:avLst>
              <a:gd name="adj" fmla="val 10227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086600" y="2916936"/>
            <a:ext cx="530352" cy="530352"/>
          </a:xfrm>
          <a:prstGeom prst="ellipse">
            <a:avLst/>
          </a:prstGeom>
          <a:solidFill>
            <a:srgbClr val="FFB38A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223760" y="30998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415784" y="30998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87768" y="320040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7754112" y="2962656"/>
            <a:ext cx="30815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320" dirty="0"/>
          </a:p>
        </p:txBody>
      </p:sp>
      <p:sp>
        <p:nvSpPr>
          <p:cNvPr id="40" name="Text 36"/>
          <p:cNvSpPr/>
          <p:nvPr/>
        </p:nvSpPr>
        <p:spPr>
          <a:xfrm>
            <a:off x="7754112" y="3300984"/>
            <a:ext cx="30358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try_send：异步 writer 落 SQLite WAL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931152" y="3803904"/>
            <a:ext cx="4041648" cy="804672"/>
          </a:xfrm>
          <a:prstGeom prst="roundRect">
            <a:avLst>
              <a:gd name="adj" fmla="val 10227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7086600" y="3986784"/>
            <a:ext cx="530352" cy="530352"/>
          </a:xfrm>
          <a:prstGeom prst="ellipse">
            <a:avLst/>
          </a:prstGeom>
          <a:solidFill>
            <a:srgbClr val="57CC99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223760" y="4169664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415784" y="4169664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287768" y="4270248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754112" y="4032504"/>
            <a:ext cx="30815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320" dirty="0"/>
          </a:p>
        </p:txBody>
      </p:sp>
      <p:sp>
        <p:nvSpPr>
          <p:cNvPr id="47" name="Text 43"/>
          <p:cNvSpPr/>
          <p:nvPr/>
        </p:nvSpPr>
        <p:spPr>
          <a:xfrm>
            <a:off x="7754112" y="4370832"/>
            <a:ext cx="30358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lag sentinel：阈值 512 可见告警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931152" y="5074920"/>
            <a:ext cx="4041648" cy="603504"/>
          </a:xfrm>
          <a:prstGeom prst="roundRect">
            <a:avLst>
              <a:gd name="adj" fmla="val 13636"/>
            </a:avLst>
          </a:prstGeom>
          <a:solidFill>
            <a:srgbClr val="FFF3C4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7095744" y="5230368"/>
            <a:ext cx="54864" cy="292608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260336" y="5184648"/>
            <a:ext cx="3566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关键取舍：宁可暴露 lag，也不让调用方在 publish() 上被持久化路径拖住。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玄女—门客：编排层不可绕过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顶层 Agent 负责对话与调度，工作 Agent 负责执行；所有协作都留下事件。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85800" y="1389888"/>
            <a:ext cx="5678424" cy="4462272"/>
          </a:xfrm>
          <a:prstGeom prst="roundRect">
            <a:avLst>
              <a:gd name="adj" fmla="val 1844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figures/drawio/fig-3-1-execution-lo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1417320"/>
            <a:ext cx="5623560" cy="44074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711696" y="1463040"/>
            <a:ext cx="455371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986016" y="1773936"/>
            <a:ext cx="397764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玄女是用户对话面唯一入口。</a:t>
            </a:r>
            <a:endParaRPr lang="en-US" sz="1010" dirty="0"/>
          </a:p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门客私有事件补齐 task_id / agent_id 后再进入全局 EventBus。</a:t>
            </a:r>
            <a:endParaRPr lang="en-US" sz="1010" dirty="0"/>
          </a:p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claim_idle_by_role 原子化避免并发派活撞同一门客。</a:t>
            </a:r>
            <a:endParaRPr lang="en-US" sz="1010" dirty="0"/>
          </a:p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shutdown_agent 对玄女做硬豁免。</a:t>
            </a:r>
            <a:endParaRPr lang="en-US" sz="1010" dirty="0"/>
          </a:p>
        </p:txBody>
      </p:sp>
      <p:sp>
        <p:nvSpPr>
          <p:cNvPr id="29" name="Shape 25"/>
          <p:cNvSpPr/>
          <p:nvPr/>
        </p:nvSpPr>
        <p:spPr>
          <a:xfrm>
            <a:off x="6757416" y="3977640"/>
            <a:ext cx="4462272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30" name="Image 2" descr="/Users/e0_7/fuxi/deliverables/thesis-v3/images/代码3-4-claim_idle原子化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4848" y="4005072"/>
            <a:ext cx="4407408" cy="96012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388352" y="5358384"/>
            <a:ext cx="3108960" cy="301752"/>
          </a:xfrm>
          <a:prstGeom prst="roundRect">
            <a:avLst>
              <a:gd name="adj" fmla="val 27273"/>
            </a:avLst>
          </a:prstGeom>
          <a:solidFill>
            <a:srgbClr val="FFF3C4"/>
          </a:solidFill>
          <a:ln w="10160">
            <a:solidFill>
              <a:srgbClr val="E8342F">
                <a:alpha val="55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498080" y="5426964"/>
            <a:ext cx="288950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编排层是事实流的边界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执行隔离：三层沙箱 × WebSocket 反连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headless Agent CLI 接进平台，而不是把平台绑死在某一个 CLI 上。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85800" y="1344168"/>
            <a:ext cx="5312664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images/代码3-5-CcAgent反连握手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1371600"/>
            <a:ext cx="5257800" cy="18288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85800" y="3538728"/>
            <a:ext cx="5312664" cy="1837944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8" name="Image 2" descr="/Users/e0_7/fuxi/deliverables/thesis-v3/images/附录代码A-10-L2_L3沙箱差异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3566160"/>
            <a:ext cx="5257800" cy="178308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446520" y="1508760"/>
            <a:ext cx="1417320" cy="987552"/>
          </a:xfrm>
          <a:prstGeom prst="roundRect">
            <a:avLst>
              <a:gd name="adj" fmla="val 8333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592824" y="1627632"/>
            <a:ext cx="112471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D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</a:t>
            </a:r>
            <a:endParaRPr lang="en-US" sz="2100" dirty="0"/>
          </a:p>
        </p:txBody>
      </p:sp>
      <p:sp>
        <p:nvSpPr>
          <p:cNvPr id="31" name="Text 26"/>
          <p:cNvSpPr/>
          <p:nvPr/>
        </p:nvSpPr>
        <p:spPr>
          <a:xfrm>
            <a:off x="6592824" y="2039112"/>
            <a:ext cx="11247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只读视图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轻量查询</a:t>
            </a:r>
            <a:endParaRPr lang="en-US" sz="880" dirty="0"/>
          </a:p>
        </p:txBody>
      </p:sp>
      <p:sp>
        <p:nvSpPr>
          <p:cNvPr id="32" name="Shape 27"/>
          <p:cNvSpPr/>
          <p:nvPr/>
        </p:nvSpPr>
        <p:spPr>
          <a:xfrm>
            <a:off x="8156448" y="1508760"/>
            <a:ext cx="1600200" cy="987552"/>
          </a:xfrm>
          <a:prstGeom prst="roundRect">
            <a:avLst>
              <a:gd name="adj" fmla="val 8333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8302752" y="1627632"/>
            <a:ext cx="130759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</a:t>
            </a:r>
            <a:endParaRPr lang="en-US" sz="2100" dirty="0"/>
          </a:p>
        </p:txBody>
      </p:sp>
      <p:sp>
        <p:nvSpPr>
          <p:cNvPr id="34" name="Text 29"/>
          <p:cNvSpPr/>
          <p:nvPr/>
        </p:nvSpPr>
        <p:spPr>
          <a:xfrm>
            <a:off x="8302752" y="2039112"/>
            <a:ext cx="13075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任务级 worktree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并发修改隔离</a:t>
            </a:r>
            <a:endParaRPr lang="en-US" sz="880" dirty="0"/>
          </a:p>
        </p:txBody>
      </p:sp>
      <p:sp>
        <p:nvSpPr>
          <p:cNvPr id="35" name="Shape 30"/>
          <p:cNvSpPr/>
          <p:nvPr/>
        </p:nvSpPr>
        <p:spPr>
          <a:xfrm>
            <a:off x="10040112" y="1508760"/>
            <a:ext cx="1600200" cy="987552"/>
          </a:xfrm>
          <a:prstGeom prst="roundRect">
            <a:avLst>
              <a:gd name="adj" fmla="val 8333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10186416" y="1627632"/>
            <a:ext cx="130759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7C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</a:t>
            </a:r>
            <a:endParaRPr lang="en-US" sz="2100" dirty="0"/>
          </a:p>
        </p:txBody>
      </p:sp>
      <p:sp>
        <p:nvSpPr>
          <p:cNvPr id="37" name="Text 32"/>
          <p:cNvSpPr/>
          <p:nvPr/>
        </p:nvSpPr>
        <p:spPr>
          <a:xfrm>
            <a:off x="10186416" y="2039112"/>
            <a:ext cx="13075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角色级持久沙箱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复用构建缓存</a:t>
            </a:r>
            <a:endParaRPr lang="en-US" sz="880" dirty="0"/>
          </a:p>
        </p:txBody>
      </p:sp>
      <p:sp>
        <p:nvSpPr>
          <p:cNvPr id="38" name="Shape 33"/>
          <p:cNvSpPr/>
          <p:nvPr/>
        </p:nvSpPr>
        <p:spPr>
          <a:xfrm>
            <a:off x="6629400" y="3822192"/>
            <a:ext cx="4370832" cy="1078992"/>
          </a:xfrm>
          <a:prstGeom prst="roundRect">
            <a:avLst>
              <a:gd name="adj" fmla="val 7627"/>
            </a:avLst>
          </a:prstGeom>
          <a:solidFill>
            <a:srgbClr val="EFE7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793992" y="3977640"/>
            <a:ext cx="54864" cy="768096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958584" y="3931920"/>
            <a:ext cx="3895344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WS 反连让编排层能主动 send_message / cancel，打破传统 stdio 只能等门客 poll 的限制。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CROSS NODE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跨节点扩展：单机优先，扩展点钩子化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默认单节点完整运行；多节点能力通过 trait 注入，不污染核心编排层。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30936" y="1389888"/>
            <a:ext cx="4946904" cy="4279392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figures/drawio/fig-2-3-cross-no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417320"/>
            <a:ext cx="4892040" cy="422452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053328" y="1517904"/>
            <a:ext cx="5230368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327648" y="1783080"/>
            <a:ext cx="464515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Project.host_nodes 标记可执行节点。</a:t>
            </a:r>
            <a:endParaRPr lang="en-US" sz="1010" dirty="0"/>
          </a:p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auto_pin_from_project 尊重显式 @node。</a:t>
            </a:r>
            <a:endParaRPr lang="en-US" sz="1010" dirty="0"/>
          </a:p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inflight / max_concurrency 选择最低饱和节点。</a:t>
            </a:r>
            <a:endParaRPr lang="en-US" sz="1010" dirty="0"/>
          </a:p>
          <a:p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HMAC-SHA256 + nonce cache + 常量时间比较。</a:t>
            </a:r>
            <a:endParaRPr lang="en-US" sz="1010" dirty="0"/>
          </a:p>
        </p:txBody>
      </p:sp>
      <p:sp>
        <p:nvSpPr>
          <p:cNvPr id="29" name="Shape 25"/>
          <p:cNvSpPr/>
          <p:nvPr/>
        </p:nvSpPr>
        <p:spPr>
          <a:xfrm>
            <a:off x="6117336" y="3886200"/>
            <a:ext cx="50292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30" name="Image 2" descr="/Users/e0_7/fuxi/deliverables/thesis-v3/images/算法3-3-HMAC验签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4768" y="3913632"/>
            <a:ext cx="4974336" cy="124358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6263640" y="5513832"/>
            <a:ext cx="4709160" cy="301752"/>
          </a:xfrm>
          <a:prstGeom prst="roundRect">
            <a:avLst>
              <a:gd name="adj" fmla="val 27273"/>
            </a:avLst>
          </a:prstGeom>
          <a:solidFill>
            <a:srgbClr val="FFF3C4"/>
          </a:solidFill>
          <a:ln w="10160">
            <a:solidFill>
              <a:srgbClr val="E8342F">
                <a:alpha val="55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73368" y="5582412"/>
            <a:ext cx="448970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边界：已跑通两节点 sandbox；大规模故障转移留待后续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实验设计：先隔离 LLM，再测通讯层上限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合成基准测的是编排与通讯路径，不把模型推理时间混进系统指标。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58368" y="1417320"/>
            <a:ext cx="5266944" cy="1655064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images/表4-1-测试覆盖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1444752"/>
            <a:ext cx="5212080" cy="16002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58368" y="3520440"/>
            <a:ext cx="5266944" cy="1472184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8" name="Image 2" descr="/Users/e0_7/fuxi/deliverables/thesis-v3/images/表4-2-吞吐基线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3547872"/>
            <a:ext cx="5212080" cy="14173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327648" y="1517904"/>
            <a:ext cx="490118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583680" y="1783080"/>
            <a:ext cx="43434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2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每任务 10 ms sleep，剥离 LLM 推理。</a:t>
            </a:r>
            <a:endParaRPr lang="en-US" sz="1020" dirty="0"/>
          </a:p>
          <a:p>
            <a:r>
              <a:rPr lang="en-US" sz="102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吞吐采用 5-run median。</a:t>
            </a:r>
            <a:endParaRPr lang="en-US" sz="1020" dirty="0"/>
          </a:p>
          <a:p>
            <a:r>
              <a:rPr lang="en-US" sz="102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延迟采用 500 样本统计 p50 / p99。</a:t>
            </a:r>
            <a:endParaRPr lang="en-US" sz="1020" dirty="0"/>
          </a:p>
          <a:p>
            <a:r>
              <a:rPr lang="en-US" sz="102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LLM Agent 吞吐主要受单次推理 1–30 s 主导。</a:t>
            </a:r>
            <a:endParaRPr lang="en-US" sz="1020" dirty="0"/>
          </a:p>
        </p:txBody>
      </p:sp>
      <p:sp>
        <p:nvSpPr>
          <p:cNvPr id="31" name="Shape 26"/>
          <p:cNvSpPr/>
          <p:nvPr/>
        </p:nvSpPr>
        <p:spPr>
          <a:xfrm>
            <a:off x="6473952" y="4224528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620256" y="4343400"/>
            <a:ext cx="16733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7C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cargo test</a:t>
            </a:r>
            <a:endParaRPr lang="en-US" sz="2100" dirty="0"/>
          </a:p>
        </p:txBody>
      </p:sp>
      <p:sp>
        <p:nvSpPr>
          <p:cNvPr id="33" name="Text 28"/>
          <p:cNvSpPr/>
          <p:nvPr/>
        </p:nvSpPr>
        <p:spPr>
          <a:xfrm>
            <a:off x="6620256" y="4754880"/>
            <a:ext cx="16733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workspace all-targets 通过</a:t>
            </a:r>
            <a:endParaRPr lang="en-US" sz="880" dirty="0"/>
          </a:p>
        </p:txBody>
      </p:sp>
      <p:sp>
        <p:nvSpPr>
          <p:cNvPr id="34" name="Shape 29"/>
          <p:cNvSpPr/>
          <p:nvPr/>
        </p:nvSpPr>
        <p:spPr>
          <a:xfrm>
            <a:off x="8942832" y="4224528"/>
            <a:ext cx="1920240" cy="987552"/>
          </a:xfrm>
          <a:prstGeom prst="roundRect">
            <a:avLst>
              <a:gd name="adj" fmla="val 8333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089136" y="4343400"/>
            <a:ext cx="16276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2100" dirty="0"/>
          </a:p>
        </p:txBody>
      </p:sp>
      <p:sp>
        <p:nvSpPr>
          <p:cNvPr id="36" name="Text 31"/>
          <p:cNvSpPr/>
          <p:nvPr/>
        </p:nvSpPr>
        <p:spPr>
          <a:xfrm>
            <a:off x="9089136" y="4754880"/>
            <a:ext cx="162763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延迟样本统计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RESULTS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结果一：Worker 扩展性没有在 16 worker 前饱和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worker 达 665 tasks/s；16 worker 达 1288.24 tasks/s。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12648" y="1389888"/>
            <a:ext cx="6592824" cy="2688336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figures/matplotlib/fig-5-1-scalabil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417320"/>
            <a:ext cx="6537960" cy="263347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12648" y="4434840"/>
            <a:ext cx="659282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8" name="Image 2" descr="/Users/e0_7/fuxi/deliverables/thesis-v3/images/表4-3-Worker扩展性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462272"/>
            <a:ext cx="6537960" cy="10241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635240" y="1481328"/>
            <a:ext cx="1874520" cy="987552"/>
          </a:xfrm>
          <a:prstGeom prst="roundRect">
            <a:avLst>
              <a:gd name="adj" fmla="val 8333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7781544" y="1600200"/>
            <a:ext cx="158191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665.00</a:t>
            </a:r>
            <a:endParaRPr lang="en-US" sz="2100" dirty="0"/>
          </a:p>
        </p:txBody>
      </p:sp>
      <p:sp>
        <p:nvSpPr>
          <p:cNvPr id="31" name="Text 26"/>
          <p:cNvSpPr/>
          <p:nvPr/>
        </p:nvSpPr>
        <p:spPr>
          <a:xfrm>
            <a:off x="7781544" y="2011680"/>
            <a:ext cx="15819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worker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调度路径吞吐 tasks/s</a:t>
            </a:r>
            <a:endParaRPr lang="en-US" sz="880" dirty="0"/>
          </a:p>
        </p:txBody>
      </p:sp>
      <p:sp>
        <p:nvSpPr>
          <p:cNvPr id="32" name="Shape 27"/>
          <p:cNvSpPr/>
          <p:nvPr/>
        </p:nvSpPr>
        <p:spPr>
          <a:xfrm>
            <a:off x="9829800" y="1481328"/>
            <a:ext cx="1737360" cy="987552"/>
          </a:xfrm>
          <a:prstGeom prst="roundRect">
            <a:avLst>
              <a:gd name="adj" fmla="val 8333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9976104" y="1600200"/>
            <a:ext cx="1444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D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1288.24</a:t>
            </a:r>
            <a:endParaRPr lang="en-US" sz="2100" dirty="0"/>
          </a:p>
        </p:txBody>
      </p:sp>
      <p:sp>
        <p:nvSpPr>
          <p:cNvPr id="34" name="Text 29"/>
          <p:cNvSpPr/>
          <p:nvPr/>
        </p:nvSpPr>
        <p:spPr>
          <a:xfrm>
            <a:off x="9976104" y="2011680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worker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tasks/s</a:t>
            </a:r>
            <a:endParaRPr lang="en-US" sz="880" dirty="0"/>
          </a:p>
        </p:txBody>
      </p:sp>
      <p:sp>
        <p:nvSpPr>
          <p:cNvPr id="35" name="Shape 30"/>
          <p:cNvSpPr/>
          <p:nvPr/>
        </p:nvSpPr>
        <p:spPr>
          <a:xfrm>
            <a:off x="7635240" y="2798064"/>
            <a:ext cx="1874520" cy="987552"/>
          </a:xfrm>
          <a:prstGeom prst="roundRect">
            <a:avLst>
              <a:gd name="adj" fmla="val 8333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7781544" y="2916936"/>
            <a:ext cx="158191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7C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80.5–83.1%</a:t>
            </a:r>
            <a:endParaRPr lang="en-US" sz="2100" dirty="0"/>
          </a:p>
        </p:txBody>
      </p:sp>
      <p:sp>
        <p:nvSpPr>
          <p:cNvPr id="37" name="Text 32"/>
          <p:cNvSpPr/>
          <p:nvPr/>
        </p:nvSpPr>
        <p:spPr>
          <a:xfrm>
            <a:off x="7781544" y="3328416"/>
            <a:ext cx="15819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1→16 worker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扩展效率</a:t>
            </a:r>
            <a:endParaRPr lang="en-US" sz="880" dirty="0"/>
          </a:p>
        </p:txBody>
      </p:sp>
      <p:sp>
        <p:nvSpPr>
          <p:cNvPr id="38" name="Shape 33"/>
          <p:cNvSpPr/>
          <p:nvPr/>
        </p:nvSpPr>
        <p:spPr>
          <a:xfrm>
            <a:off x="9829800" y="2798064"/>
            <a:ext cx="1737360" cy="987552"/>
          </a:xfrm>
          <a:prstGeom prst="roundRect">
            <a:avLst>
              <a:gd name="adj" fmla="val 8333"/>
            </a:avLst>
          </a:prstGeom>
          <a:solidFill>
            <a:srgbClr val="EFE7FF"/>
          </a:solidFill>
          <a:ln w="14605">
            <a:solidFill>
              <a:srgbClr val="CDB4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9976104" y="2916936"/>
            <a:ext cx="1444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DB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未饱和</a:t>
            </a:r>
            <a:endParaRPr lang="en-US" sz="2100" dirty="0"/>
          </a:p>
        </p:txBody>
      </p:sp>
      <p:sp>
        <p:nvSpPr>
          <p:cNvPr id="40" name="Text 35"/>
          <p:cNvSpPr/>
          <p:nvPr/>
        </p:nvSpPr>
        <p:spPr>
          <a:xfrm>
            <a:off x="9976104" y="3328416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dispatcher 不是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主瓶颈</a:t>
            </a:r>
            <a:endParaRPr lang="en-US" sz="880" dirty="0"/>
          </a:p>
        </p:txBody>
      </p:sp>
      <p:sp>
        <p:nvSpPr>
          <p:cNvPr id="41" name="Shape 36"/>
          <p:cNvSpPr/>
          <p:nvPr/>
        </p:nvSpPr>
        <p:spPr>
          <a:xfrm>
            <a:off x="7635240" y="4718304"/>
            <a:ext cx="3931920" cy="658368"/>
          </a:xfrm>
          <a:prstGeom prst="roundRect">
            <a:avLst>
              <a:gd name="adj" fmla="val 12500"/>
            </a:avLst>
          </a:prstGeom>
          <a:solidFill>
            <a:srgbClr val="FFF3C4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7799832" y="4873752"/>
            <a:ext cx="54864" cy="347472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964424" y="4828032"/>
            <a:ext cx="345643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结论：通讯与调度路径在目标规模内有余量，真实瓶颈会转移到 LLM 推理。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RESULTS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结果二：事件流延迟比派发链路低三个数量级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观测端应当跟得上任务过程，而不是靠轮询追尾。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94360" y="1399032"/>
            <a:ext cx="5952744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figures/matplotlib/fig-5-6-e2e-breakdow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" y="1426464"/>
            <a:ext cx="5897880" cy="219456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94360" y="3995928"/>
            <a:ext cx="28437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8" name="Image 2" descr="/Users/e0_7/fuxi/deliverables/thesis-v3/figures/matplotlib/fig-5-5-event-flow-latenc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023360"/>
            <a:ext cx="2788920" cy="155448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703320" y="3995928"/>
            <a:ext cx="28437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30" name="Image 3" descr="/Users/e0_7/fuxi/deliverables/thesis-v3/figures/matplotlib/fig-5-4-dispatch-latency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30752" y="4023360"/>
            <a:ext cx="2788920" cy="155448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67728" y="1481328"/>
            <a:ext cx="1938528" cy="987552"/>
          </a:xfrm>
          <a:prstGeom prst="roundRect">
            <a:avLst>
              <a:gd name="adj" fmla="val 8333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114032" y="1600200"/>
            <a:ext cx="1645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32.93 ms</a:t>
            </a:r>
            <a:endParaRPr lang="en-US" sz="2100" dirty="0"/>
          </a:p>
        </p:txBody>
      </p:sp>
      <p:sp>
        <p:nvSpPr>
          <p:cNvPr id="33" name="Text 27"/>
          <p:cNvSpPr/>
          <p:nvPr/>
        </p:nvSpPr>
        <p:spPr>
          <a:xfrm>
            <a:off x="7114032" y="2011680"/>
            <a:ext cx="1645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任务派发 p50</a:t>
            </a:r>
            <a:endParaRPr lang="en-US" sz="880" dirty="0"/>
          </a:p>
        </p:txBody>
      </p:sp>
      <p:sp>
        <p:nvSpPr>
          <p:cNvPr id="34" name="Shape 28"/>
          <p:cNvSpPr/>
          <p:nvPr/>
        </p:nvSpPr>
        <p:spPr>
          <a:xfrm>
            <a:off x="9217152" y="1481328"/>
            <a:ext cx="1938528" cy="987552"/>
          </a:xfrm>
          <a:prstGeom prst="roundRect">
            <a:avLst>
              <a:gd name="adj" fmla="val 8333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9363456" y="1600200"/>
            <a:ext cx="1645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D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0.08 ms</a:t>
            </a:r>
            <a:endParaRPr lang="en-US" sz="2100" dirty="0"/>
          </a:p>
        </p:txBody>
      </p:sp>
      <p:sp>
        <p:nvSpPr>
          <p:cNvPr id="36" name="Text 30"/>
          <p:cNvSpPr/>
          <p:nvPr/>
        </p:nvSpPr>
        <p:spPr>
          <a:xfrm>
            <a:off x="9363456" y="2011680"/>
            <a:ext cx="1645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事件广播 p50</a:t>
            </a:r>
            <a:endParaRPr lang="en-US" sz="880" dirty="0"/>
          </a:p>
        </p:txBody>
      </p:sp>
      <p:sp>
        <p:nvSpPr>
          <p:cNvPr id="37" name="Shape 31"/>
          <p:cNvSpPr/>
          <p:nvPr/>
        </p:nvSpPr>
        <p:spPr>
          <a:xfrm>
            <a:off x="6967728" y="2788920"/>
            <a:ext cx="1938528" cy="987552"/>
          </a:xfrm>
          <a:prstGeom prst="roundRect">
            <a:avLst>
              <a:gd name="adj" fmla="val 8333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7114032" y="2907792"/>
            <a:ext cx="1645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7C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0.26 ms</a:t>
            </a:r>
            <a:endParaRPr lang="en-US" sz="2100" dirty="0"/>
          </a:p>
        </p:txBody>
      </p:sp>
      <p:sp>
        <p:nvSpPr>
          <p:cNvPr id="39" name="Text 33"/>
          <p:cNvSpPr/>
          <p:nvPr/>
        </p:nvSpPr>
        <p:spPr>
          <a:xfrm>
            <a:off x="7114032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事件广播 p99</a:t>
            </a:r>
            <a:endParaRPr lang="en-US" sz="880" dirty="0"/>
          </a:p>
        </p:txBody>
      </p:sp>
      <p:sp>
        <p:nvSpPr>
          <p:cNvPr id="40" name="Shape 34"/>
          <p:cNvSpPr/>
          <p:nvPr/>
        </p:nvSpPr>
        <p:spPr>
          <a:xfrm>
            <a:off x="9217152" y="2788920"/>
            <a:ext cx="1938528" cy="987552"/>
          </a:xfrm>
          <a:prstGeom prst="roundRect">
            <a:avLst>
              <a:gd name="adj" fmla="val 8333"/>
            </a:avLst>
          </a:prstGeom>
          <a:solidFill>
            <a:srgbClr val="EFE7FF"/>
          </a:solidFill>
          <a:ln w="14605">
            <a:solidFill>
              <a:srgbClr val="CDB4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9363456" y="2907792"/>
            <a:ext cx="1645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DB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410×</a:t>
            </a:r>
            <a:endParaRPr lang="en-US" sz="2100" dirty="0"/>
          </a:p>
        </p:txBody>
      </p:sp>
      <p:sp>
        <p:nvSpPr>
          <p:cNvPr id="42" name="Text 36"/>
          <p:cNvSpPr/>
          <p:nvPr/>
        </p:nvSpPr>
        <p:spPr>
          <a:xfrm>
            <a:off x="9363456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event_flow 与 dispatch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p50 差距</a:t>
            </a:r>
            <a:endParaRPr lang="en-US" sz="880" dirty="0"/>
          </a:p>
        </p:txBody>
      </p:sp>
      <p:sp>
        <p:nvSpPr>
          <p:cNvPr id="43" name="Shape 37"/>
          <p:cNvSpPr/>
          <p:nvPr/>
        </p:nvSpPr>
        <p:spPr>
          <a:xfrm>
            <a:off x="6967728" y="4736592"/>
            <a:ext cx="4187952" cy="585216"/>
          </a:xfrm>
          <a:prstGeom prst="roundRect">
            <a:avLst>
              <a:gd name="adj" fmla="val 14063"/>
            </a:avLst>
          </a:prstGeom>
          <a:solidFill>
            <a:srgbClr val="FFF3C4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7132320" y="4892040"/>
            <a:ext cx="54864" cy="274320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296912" y="4846320"/>
            <a:ext cx="37124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通讯层低延迟让 Firehose、TUI、PWA 能近实时显示过程事件。</a:t>
            </a:r>
            <a:endParaRPr lang="en-US" sz="12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RESULTS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结果三：事件总线压力测试给出容量边界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 subscriber × 10k events/s 零丢帧；16 subscriber × 100k events/s 可持续。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30936" y="1417320"/>
            <a:ext cx="6547104" cy="263347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6" name="Image 1" descr="/Users/e0_7/fuxi/deliverables/thesis-v3/figures/matplotlib/fig-5-3-bus-str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444752"/>
            <a:ext cx="6492240" cy="257860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30936" y="4434840"/>
            <a:ext cx="6547104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8" name="Image 2" descr="/Users/e0_7/fuxi/deliverables/thesis-v3/images/表4-6-事件总线压测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" y="4462272"/>
            <a:ext cx="6492240" cy="9601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644384" y="1499616"/>
            <a:ext cx="1920240" cy="987552"/>
          </a:xfrm>
          <a:prstGeom prst="roundRect">
            <a:avLst>
              <a:gd name="adj" fmla="val 8333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7790688" y="1618488"/>
            <a:ext cx="16276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D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 × 10k/s</a:t>
            </a:r>
            <a:endParaRPr lang="en-US" sz="2100" dirty="0"/>
          </a:p>
        </p:txBody>
      </p:sp>
      <p:sp>
        <p:nvSpPr>
          <p:cNvPr id="31" name="Text 26"/>
          <p:cNvSpPr/>
          <p:nvPr/>
        </p:nvSpPr>
        <p:spPr>
          <a:xfrm>
            <a:off x="7790688" y="2029968"/>
            <a:ext cx="162763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持续负载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零丢帧</a:t>
            </a:r>
            <a:endParaRPr lang="en-US" sz="880" dirty="0"/>
          </a:p>
        </p:txBody>
      </p:sp>
      <p:sp>
        <p:nvSpPr>
          <p:cNvPr id="32" name="Shape 27"/>
          <p:cNvSpPr/>
          <p:nvPr/>
        </p:nvSpPr>
        <p:spPr>
          <a:xfrm>
            <a:off x="7644384" y="2816352"/>
            <a:ext cx="1920240" cy="987552"/>
          </a:xfrm>
          <a:prstGeom prst="roundRect">
            <a:avLst>
              <a:gd name="adj" fmla="val 8333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790688" y="2935224"/>
            <a:ext cx="16276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1.6M events/s</a:t>
            </a:r>
            <a:endParaRPr lang="en-US" sz="2100" dirty="0"/>
          </a:p>
        </p:txBody>
      </p:sp>
      <p:sp>
        <p:nvSpPr>
          <p:cNvPr id="34" name="Text 29"/>
          <p:cNvSpPr/>
          <p:nvPr/>
        </p:nvSpPr>
        <p:spPr>
          <a:xfrm>
            <a:off x="7790688" y="3346704"/>
            <a:ext cx="162763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sustainable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容量边界</a:t>
            </a:r>
            <a:endParaRPr lang="en-US" sz="880" dirty="0"/>
          </a:p>
        </p:txBody>
      </p:sp>
      <p:sp>
        <p:nvSpPr>
          <p:cNvPr id="35" name="Shape 30"/>
          <p:cNvSpPr/>
          <p:nvPr/>
        </p:nvSpPr>
        <p:spPr>
          <a:xfrm>
            <a:off x="7644384" y="4133088"/>
            <a:ext cx="1920240" cy="987552"/>
          </a:xfrm>
          <a:prstGeom prst="roundRect">
            <a:avLst>
              <a:gd name="adj" fmla="val 8333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7790688" y="4251960"/>
            <a:ext cx="16276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7C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个数量级</a:t>
            </a:r>
            <a:endParaRPr lang="en-US" sz="2100" dirty="0"/>
          </a:p>
        </p:txBody>
      </p:sp>
      <p:sp>
        <p:nvSpPr>
          <p:cNvPr id="37" name="Text 32"/>
          <p:cNvSpPr/>
          <p:nvPr/>
        </p:nvSpPr>
        <p:spPr>
          <a:xfrm>
            <a:off x="7790688" y="4663440"/>
            <a:ext cx="162763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高于实际负载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估算余量</a:t>
            </a:r>
            <a:endParaRPr lang="en-US" sz="880" dirty="0"/>
          </a:p>
        </p:txBody>
      </p:sp>
      <p:sp>
        <p:nvSpPr>
          <p:cNvPr id="38" name="Text 33"/>
          <p:cNvSpPr/>
          <p:nvPr/>
        </p:nvSpPr>
        <p:spPr>
          <a:xfrm>
            <a:off x="9857232" y="1572768"/>
            <a:ext cx="1389888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payload size 影响很小，符合 Arc clone 扇出模型预期。64×100k/s 出现丢帧，是系统容量边界，不作为日常负载目标。</a:t>
            </a:r>
            <a:endParaRPr lang="en-US" sz="10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926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342F">
              <a:alpha val="92000"/>
            </a:srgbClr>
          </a:solidFill>
          <a:ln w="12700">
            <a:solidFill>
              <a:srgbClr val="E8342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"/>
            <a:ext cx="5669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"/>
            <a:ext cx="3108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LIMITS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局限与后续工作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94944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主动承认边界，比被问住更好。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22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86384" y="1591056"/>
            <a:ext cx="4828032" cy="1234440"/>
          </a:xfrm>
          <a:prstGeom prst="roundRect">
            <a:avLst>
              <a:gd name="adj" fmla="val 6667"/>
            </a:avLst>
          </a:prstGeom>
          <a:solidFill>
            <a:srgbClr val="FFE2CD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41832" y="1773936"/>
            <a:ext cx="530352" cy="530352"/>
          </a:xfrm>
          <a:prstGeom prst="ellipse">
            <a:avLst/>
          </a:prstGeom>
          <a:solidFill>
            <a:srgbClr val="FFB38A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78992" y="19568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71016" y="19568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3000" y="205740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609344" y="1819656"/>
            <a:ext cx="38679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规范跟进</a:t>
            </a:r>
            <a:endParaRPr lang="en-US" sz="1320" dirty="0"/>
          </a:p>
        </p:txBody>
      </p:sp>
      <p:sp>
        <p:nvSpPr>
          <p:cNvPr id="31" name="Text 28"/>
          <p:cNvSpPr/>
          <p:nvPr/>
        </p:nvSpPr>
        <p:spPr>
          <a:xfrm>
            <a:off x="1609344" y="2157984"/>
            <a:ext cx="382219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补齐 v1.0 PascalCase 与 one-of 互通测试。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9904" y="1591056"/>
            <a:ext cx="4828032" cy="1234440"/>
          </a:xfrm>
          <a:prstGeom prst="roundRect">
            <a:avLst>
              <a:gd name="adj" fmla="val 6667"/>
            </a:avLst>
          </a:prstGeom>
          <a:solidFill>
            <a:srgbClr val="E5F4FF"/>
          </a:solidFill>
          <a:ln w="14605">
            <a:solidFill>
              <a:srgbClr val="A8D8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45352" y="1773936"/>
            <a:ext cx="530352" cy="530352"/>
          </a:xfrm>
          <a:prstGeom prst="ellipse">
            <a:avLst/>
          </a:prstGeom>
          <a:solidFill>
            <a:srgbClr val="A8D8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82512" y="19568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74536" y="19568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46520" y="205740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12864" y="1819656"/>
            <a:ext cx="38679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安全模型</a:t>
            </a:r>
            <a:endParaRPr lang="en-US" sz="1320" dirty="0"/>
          </a:p>
        </p:txBody>
      </p:sp>
      <p:sp>
        <p:nvSpPr>
          <p:cNvPr id="38" name="Text 35"/>
          <p:cNvSpPr/>
          <p:nvPr/>
        </p:nvSpPr>
        <p:spPr>
          <a:xfrm>
            <a:off x="6912864" y="2157984"/>
            <a:ext cx="382219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工具授权、数据访问控制、提示注入仍需统一策略。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86384" y="3419856"/>
            <a:ext cx="4828032" cy="1234440"/>
          </a:xfrm>
          <a:prstGeom prst="roundRect">
            <a:avLst>
              <a:gd name="adj" fmla="val 6667"/>
            </a:avLst>
          </a:prstGeom>
          <a:solidFill>
            <a:srgbClr val="E0F7EF"/>
          </a:solidFill>
          <a:ln w="14605">
            <a:solidFill>
              <a:srgbClr val="57CC99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41832" y="3602736"/>
            <a:ext cx="530352" cy="530352"/>
          </a:xfrm>
          <a:prstGeom prst="ellipse">
            <a:avLst/>
          </a:prstGeom>
          <a:solidFill>
            <a:srgbClr val="57CC99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78992" y="37856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71016" y="37856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43000" y="388620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609344" y="3648456"/>
            <a:ext cx="38679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分布式一致性</a:t>
            </a:r>
            <a:endParaRPr lang="en-US" sz="1320" dirty="0"/>
          </a:p>
        </p:txBody>
      </p:sp>
      <p:sp>
        <p:nvSpPr>
          <p:cNvPr id="45" name="Text 42"/>
          <p:cNvSpPr/>
          <p:nvPr/>
        </p:nvSpPr>
        <p:spPr>
          <a:xfrm>
            <a:off x="1609344" y="3986784"/>
            <a:ext cx="382219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更大节点数、不可靠链路与故障转移尚未充分验证。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089904" y="3419856"/>
            <a:ext cx="4828032" cy="1234440"/>
          </a:xfrm>
          <a:prstGeom prst="roundRect">
            <a:avLst>
              <a:gd name="adj" fmla="val 6667"/>
            </a:avLst>
          </a:prstGeom>
          <a:solidFill>
            <a:srgbClr val="EFE7FF"/>
          </a:solidFill>
          <a:ln w="14605">
            <a:solidFill>
              <a:srgbClr val="CDB4F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245352" y="3602736"/>
            <a:ext cx="530352" cy="530352"/>
          </a:xfrm>
          <a:prstGeom prst="ellipse">
            <a:avLst/>
          </a:prstGeom>
          <a:solidFill>
            <a:srgbClr val="CDB4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82512" y="37856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74536" y="378561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46520" y="388620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912864" y="3648456"/>
            <a:ext cx="38679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适配生态</a:t>
            </a:r>
            <a:endParaRPr lang="en-US" sz="1320" dirty="0"/>
          </a:p>
        </p:txBody>
      </p:sp>
      <p:sp>
        <p:nvSpPr>
          <p:cNvPr id="52" name="Text 49"/>
          <p:cNvSpPr/>
          <p:nvPr/>
        </p:nvSpPr>
        <p:spPr>
          <a:xfrm>
            <a:off x="6912864" y="3986784"/>
            <a:ext cx="382219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Claude Code / Codex 经验沉淀为通用 CLI 适配框架。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1078992" y="5559552"/>
            <a:ext cx="9966960" cy="530352"/>
          </a:xfrm>
          <a:prstGeom prst="roundRect">
            <a:avLst>
              <a:gd name="adj" fmla="val 15517"/>
            </a:avLst>
          </a:prstGeom>
          <a:solidFill>
            <a:srgbClr val="FFF3C4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1243584" y="5715000"/>
            <a:ext cx="54864" cy="219456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408176" y="5669280"/>
            <a:ext cx="94914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论文记录的是 Fuxi v1/v2 阶段的工程化证据；平台不会因答辩结束而停止演进。</a:t>
            </a:r>
            <a:endParaRPr lang="en-US" sz="12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11480"/>
            <a:ext cx="256032" cy="256032"/>
          </a:xfrm>
          <a:prstGeom prst="ellipse">
            <a:avLst/>
          </a:prstGeom>
          <a:solidFill>
            <a:srgbClr val="FFD36E">
              <a:alpha val="82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823" y="437083"/>
            <a:ext cx="107533" cy="107533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D3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8832" y="804672"/>
            <a:ext cx="201168" cy="201168"/>
          </a:xfrm>
          <a:prstGeom prst="ellipse">
            <a:avLst/>
          </a:prstGeom>
          <a:solidFill>
            <a:srgbClr val="A8E6CF">
              <a:alpha val="82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1369" y="824789"/>
            <a:ext cx="84491" cy="84491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E6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63072" y="5806440"/>
            <a:ext cx="237744" cy="237744"/>
          </a:xfrm>
          <a:prstGeom prst="ellipse">
            <a:avLst/>
          </a:prstGeom>
          <a:solidFill>
            <a:srgbClr val="FFB38A">
              <a:alpha val="82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434" y="5830214"/>
            <a:ext cx="99852" cy="9985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B38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5833872"/>
            <a:ext cx="164592" cy="164592"/>
          </a:xfrm>
          <a:prstGeom prst="ellipse">
            <a:avLst/>
          </a:prstGeom>
          <a:solidFill>
            <a:srgbClr val="A8D8FF">
              <a:alpha val="82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064" y="5850331"/>
            <a:ext cx="69129" cy="69129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6355080"/>
            <a:ext cx="502920" cy="201168"/>
          </a:xfrm>
          <a:prstGeom prst="arc">
            <a:avLst/>
          </a:prstGeom>
          <a:noFill/>
          <a:ln w="13970">
            <a:solidFill>
              <a:srgbClr val="FFB38A">
                <a:alpha val="7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355080"/>
            <a:ext cx="502920" cy="201168"/>
          </a:xfrm>
          <a:prstGeom prst="arc">
            <a:avLst/>
          </a:prstGeom>
          <a:noFill/>
          <a:ln w="13970">
            <a:solidFill>
              <a:srgbClr val="A8D8FF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512064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B38A"/>
            </a:solidFill>
            <a:prstDash val="solid"/>
          </a:ln>
        </p:spPr>
      </p:sp>
      <p:pic>
        <p:nvPicPr>
          <p:cNvPr id="17" name="Image 0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0080"/>
            <a:ext cx="658368" cy="6583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" y="1755648"/>
            <a:ext cx="2103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86384" y="2414016"/>
            <a:ext cx="2057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谢谢各位老师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6384" y="3090672"/>
            <a:ext cx="4617720" cy="1261872"/>
          </a:xfrm>
          <a:prstGeom prst="roundRect">
            <a:avLst>
              <a:gd name="adj" fmla="val 6522"/>
            </a:avLst>
          </a:prstGeom>
          <a:solidFill>
            <a:srgbClr val="FFF3C4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50976" y="3246120"/>
            <a:ext cx="54864" cy="950976"/>
          </a:xfrm>
          <a:prstGeom prst="rect">
            <a:avLst/>
          </a:prstGeom>
          <a:solidFill>
            <a:srgbClr val="E8342F"/>
          </a:solidFill>
          <a:ln w="12700">
            <a:solidFill>
              <a:srgbClr val="E834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3200400"/>
            <a:ext cx="4142232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的差异化不在于“最快的 Agent 框架”，而在于把通讯底座从应用流程中显式剥离出来：事件流可观测可回放，协议层可独立部署，执行层可隔离扩展。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5897880" y="1143000"/>
            <a:ext cx="5285232" cy="4306824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4605">
            <a:solidFill>
              <a:srgbClr val="FFB38A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pic>
        <p:nvPicPr>
          <p:cNvPr id="24" name="Image 1" descr="/Users/e0_7/fuxi/deliverables/thesis-v3/figures/drawio/fig-1-1-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25312" y="1170432"/>
            <a:ext cx="5230368" cy="425196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005840" y="5349240"/>
            <a:ext cx="1463040" cy="786384"/>
          </a:xfrm>
          <a:prstGeom prst="roundRect">
            <a:avLst>
              <a:gd name="adj" fmla="val 10465"/>
            </a:avLst>
          </a:prstGeom>
          <a:solidFill>
            <a:srgbClr val="FFB38A">
              <a:alpha val="42000"/>
            </a:srgbClr>
          </a:solidFill>
          <a:ln w="14605">
            <a:solidFill>
              <a:srgbClr val="FFB38A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1097280" y="5477256"/>
            <a:ext cx="530352" cy="530352"/>
          </a:xfrm>
          <a:prstGeom prst="ellipse">
            <a:avLst/>
          </a:prstGeom>
          <a:solidFill>
            <a:srgbClr val="FFB38A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34440" y="566013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426464" y="566013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298448" y="576072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691640" y="557784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2578608" y="5568696"/>
            <a:ext cx="292608" cy="292608"/>
          </a:xfrm>
          <a:prstGeom prst="chevron">
            <a:avLst/>
          </a:prstGeom>
          <a:solidFill>
            <a:srgbClr val="FFB38A"/>
          </a:solidFill>
          <a:ln w="12700">
            <a:solidFill>
              <a:srgbClr val="FFB38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063240" y="5349240"/>
            <a:ext cx="1463040" cy="786384"/>
          </a:xfrm>
          <a:prstGeom prst="roundRect">
            <a:avLst>
              <a:gd name="adj" fmla="val 10465"/>
            </a:avLst>
          </a:prstGeom>
          <a:solidFill>
            <a:srgbClr val="A8D8FF">
              <a:alpha val="42000"/>
            </a:srgbClr>
          </a:solidFill>
          <a:ln w="14605">
            <a:solidFill>
              <a:srgbClr val="A8D8FF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154680" y="5477256"/>
            <a:ext cx="530352" cy="530352"/>
          </a:xfrm>
          <a:prstGeom prst="ellipse">
            <a:avLst/>
          </a:prstGeom>
          <a:solidFill>
            <a:srgbClr val="A8D8FF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291840" y="566013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483864" y="566013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355848" y="576072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749040" y="557784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</a:t>
            </a:r>
            <a:endParaRPr lang="en-US" sz="880" dirty="0"/>
          </a:p>
        </p:txBody>
      </p:sp>
      <p:sp>
        <p:nvSpPr>
          <p:cNvPr id="38" name="Shape 34"/>
          <p:cNvSpPr/>
          <p:nvPr/>
        </p:nvSpPr>
        <p:spPr>
          <a:xfrm>
            <a:off x="4636008" y="5568696"/>
            <a:ext cx="292608" cy="292608"/>
          </a:xfrm>
          <a:prstGeom prst="chevron">
            <a:avLst/>
          </a:prstGeom>
          <a:solidFill>
            <a:srgbClr val="FFB38A"/>
          </a:solidFill>
          <a:ln w="12700">
            <a:solidFill>
              <a:srgbClr val="FFB38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20640" y="5349240"/>
            <a:ext cx="1463040" cy="786384"/>
          </a:xfrm>
          <a:prstGeom prst="roundRect">
            <a:avLst>
              <a:gd name="adj" fmla="val 10465"/>
            </a:avLst>
          </a:prstGeom>
          <a:solidFill>
            <a:srgbClr val="57CC99">
              <a:alpha val="42000"/>
            </a:srgbClr>
          </a:solidFill>
          <a:ln w="14605">
            <a:solidFill>
              <a:srgbClr val="57CC99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E7A38E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5212080" y="5477256"/>
            <a:ext cx="530352" cy="530352"/>
          </a:xfrm>
          <a:prstGeom prst="ellipse">
            <a:avLst/>
          </a:prstGeom>
          <a:solidFill>
            <a:srgbClr val="57CC99"/>
          </a:solidFill>
          <a:ln w="8890">
            <a:solidFill>
              <a:srgbClr val="293241">
                <a:alpha val="4500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349240" y="566013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541264" y="5660136"/>
            <a:ext cx="64008" cy="64008"/>
          </a:xfrm>
          <a:prstGeom prst="ellipse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413248" y="5760720"/>
            <a:ext cx="1371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⌣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5806440" y="557784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932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880" dirty="0"/>
          </a:p>
        </p:txBody>
      </p:sp>
      <p:sp>
        <p:nvSpPr>
          <p:cNvPr id="45" name="Shape 41"/>
          <p:cNvSpPr/>
          <p:nvPr/>
        </p:nvSpPr>
        <p:spPr>
          <a:xfrm>
            <a:off x="658368" y="6419088"/>
            <a:ext cx="10835640" cy="0"/>
          </a:xfrm>
          <a:prstGeom prst="line">
            <a:avLst/>
          </a:prstGeom>
          <a:noFill/>
          <a:ln w="12700">
            <a:solidFill>
              <a:srgbClr val="F1C2B3">
                <a:alpha val="85000"/>
              </a:srgbClr>
            </a:solidFill>
            <a:prstDash val="solid"/>
          </a:ln>
        </p:spPr>
      </p:sp>
      <p:pic>
        <p:nvPicPr>
          <p:cNvPr id="46" name="Image 2" descr="/Users/e0_7/fuxi/deliverables/defense-ppt-cute/assets/hnfnu-emblem-official-p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73952"/>
            <a:ext cx="201168" cy="201168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50976" y="6519672"/>
            <a:ext cx="41148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湖南第一师范学院 · 张以琳 · Fuxi 毕业论文答辩</a:t>
            </a:r>
            <a:endParaRPr lang="en-US" sz="720" dirty="0"/>
          </a:p>
        </p:txBody>
      </p:sp>
      <p:sp>
        <p:nvSpPr>
          <p:cNvPr id="48" name="Text 43"/>
          <p:cNvSpPr/>
          <p:nvPr/>
        </p:nvSpPr>
        <p:spPr>
          <a:xfrm>
            <a:off x="1113739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34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湖南第一师范学院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Fuxi 毕业论文答辩 Q萌版</dc:title>
  <dc:subject>基于 AI Agent 的高性能分布式通讯系统</dc:subject>
  <dc:creator>张以琳</dc:creator>
  <cp:lastModifiedBy>张以琳</cp:lastModifiedBy>
  <cp:revision>1</cp:revision>
  <dcterms:created xsi:type="dcterms:W3CDTF">2026-05-08T14:17:27Z</dcterms:created>
  <dcterms:modified xsi:type="dcterms:W3CDTF">2026-05-08T14:17:27Z</dcterms:modified>
</cp:coreProperties>
</file>